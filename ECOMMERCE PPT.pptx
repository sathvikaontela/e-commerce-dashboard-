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Barlow" panose="00000500000000000000" pitchFamily="2" charset="0"/>
      <p:regular r:id="rId15"/>
    </p:embeddedFont>
    <p:embeddedFont>
      <p:font typeface="Barlow Medium" panose="00000600000000000000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355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086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1356" y="4368403"/>
            <a:ext cx="11987689" cy="189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450"/>
              </a:lnSpc>
              <a:buNone/>
            </a:pPr>
            <a:r>
              <a:rPr lang="en-US" sz="59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E-commerce Sales &amp; Customer Behavior Dashboard</a:t>
            </a:r>
            <a:endParaRPr lang="en-US" sz="5950" dirty="0"/>
          </a:p>
        </p:txBody>
      </p:sp>
      <p:sp>
        <p:nvSpPr>
          <p:cNvPr id="4" name="Text 1"/>
          <p:cNvSpPr/>
          <p:nvPr/>
        </p:nvSpPr>
        <p:spPr>
          <a:xfrm>
            <a:off x="1321356" y="6631305"/>
            <a:ext cx="11987689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127403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Outline: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2183487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Project Objective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4037" y="2664857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Key Metrics (KPIs)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4037" y="3146227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Top-Selling Products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4037" y="3627596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Monthly Sales Trend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4037" y="4108966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Customer Segments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4037" y="4590336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Sales by Region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4037" y="5071705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Return Insights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64037" y="5553075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Customer Behavior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64037" y="6034445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Key Takeaways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64037" y="6707148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1356" y="558641"/>
            <a:ext cx="3602593" cy="450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Objective: 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21356" y="1211580"/>
            <a:ext cx="6931819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Understand customer behavior, sales trends, and product performance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355" y="1796890"/>
            <a:ext cx="12351613" cy="57011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1356" y="6794659"/>
            <a:ext cx="1198768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321356" y="7346752"/>
            <a:ext cx="1198768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1356" y="636270"/>
            <a:ext cx="7697986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Key Business Performance Metrics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21356" y="1881188"/>
            <a:ext cx="10105192" cy="5452824"/>
          </a:xfrm>
          <a:prstGeom prst="roundRect">
            <a:avLst>
              <a:gd name="adj" fmla="val 177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3482" y="1961733"/>
            <a:ext cx="10088880" cy="6604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560552" y="2034659"/>
            <a:ext cx="2897981" cy="36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Metric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926925" y="2034659"/>
            <a:ext cx="2894171" cy="36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Value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89488" y="2034659"/>
            <a:ext cx="2897981" cy="36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It Tells Us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28976" y="2549247"/>
            <a:ext cx="10088880" cy="102917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560552" y="2695099"/>
            <a:ext cx="2897981" cy="36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Total Revenue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26925" y="2695099"/>
            <a:ext cx="2894171" cy="36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2,757K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89488" y="2695099"/>
            <a:ext cx="2897981" cy="737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Reflects strong product-market performance.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28976" y="3578423"/>
            <a:ext cx="10088880" cy="10291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560552" y="3724275"/>
            <a:ext cx="2897981" cy="36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Repeat Customer Rate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26925" y="3724275"/>
            <a:ext cx="2894171" cy="36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96%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89488" y="3724275"/>
            <a:ext cx="2897981" cy="737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Indicates high loyalty and satisfaction.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28976" y="4607600"/>
            <a:ext cx="10088880" cy="6604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560552" y="4753451"/>
            <a:ext cx="2897981" cy="36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Total Orders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26925" y="4753451"/>
            <a:ext cx="2894171" cy="36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1,000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89488" y="4753451"/>
            <a:ext cx="2897981" cy="36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Total orders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28976" y="5268039"/>
            <a:ext cx="10088880" cy="10291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560552" y="5413891"/>
            <a:ext cx="2897981" cy="36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Average Order Size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26925" y="5413891"/>
            <a:ext cx="2894171" cy="36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2.73K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89488" y="5413891"/>
            <a:ext cx="2897981" cy="737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Shows customer purchase value.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328976" y="6297216"/>
            <a:ext cx="10088880" cy="102917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560552" y="6443067"/>
            <a:ext cx="2897981" cy="36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Total Customers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926925" y="6443067"/>
            <a:ext cx="2894171" cy="36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200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89488" y="6443067"/>
            <a:ext cx="2897981" cy="737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Number of unique customers.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996380" y="1829395"/>
            <a:ext cx="1320165" cy="36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464" y="2255877"/>
            <a:ext cx="5692735" cy="4274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1356" y="5634157"/>
            <a:ext cx="569273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1527691" y="1088350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Best-Selling  Products</a:t>
            </a:r>
            <a:endParaRPr lang="en-US" sz="4300" dirty="0"/>
          </a:p>
        </p:txBody>
      </p:sp>
      <p:sp>
        <p:nvSpPr>
          <p:cNvPr id="5" name="Text 2"/>
          <p:cNvSpPr/>
          <p:nvPr/>
        </p:nvSpPr>
        <p:spPr>
          <a:xfrm>
            <a:off x="7699232" y="3386301"/>
            <a:ext cx="569273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Insights</a:t>
            </a:r>
            <a:r>
              <a:rPr lang="en-US" sz="2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: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699233" y="4121542"/>
            <a:ext cx="569273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Watches and smartphones are top earners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699233" y="4801926"/>
            <a:ext cx="569273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Focus on these products for future promotions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1356" y="1154672"/>
            <a:ext cx="5215890" cy="65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Revenue Over Time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1321356" y="2557466"/>
            <a:ext cx="3823335" cy="37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Insights</a:t>
            </a: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21356" y="3148071"/>
            <a:ext cx="3823335" cy="75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Spikes in sales during a few months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1356" y="3898879"/>
            <a:ext cx="3823335" cy="75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Reason: Likely </a:t>
            </a:r>
            <a:r>
              <a:rPr lang="en-US" sz="18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special offers or festival sales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1356" y="4704685"/>
            <a:ext cx="3823335" cy="75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Helps plan campaigns better in those months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246" y="2058815"/>
            <a:ext cx="5903415" cy="41119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25001" y="7251144"/>
            <a:ext cx="7591544" cy="37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4085" y="1134966"/>
            <a:ext cx="5165884" cy="645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   Customer Categories</a:t>
            </a:r>
            <a:endParaRPr lang="en-US" sz="4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045" y="2479855"/>
            <a:ext cx="5034580" cy="3830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1356" y="7321272"/>
            <a:ext cx="6463427" cy="37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359616" y="1842730"/>
            <a:ext cx="4956929" cy="37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477950" y="2947275"/>
            <a:ext cx="4956929" cy="37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Insights</a:t>
            </a: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359616" y="3528300"/>
            <a:ext cx="4956929" cy="74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Most customers are in Platinum → They buy often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359616" y="4481157"/>
            <a:ext cx="4956929" cy="37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Consider loyalty rewards to retain them.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1356" y="761048"/>
            <a:ext cx="5705475" cy="59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Sales &amp; Quantity by Country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267" y="1920240"/>
            <a:ext cx="4461034" cy="283273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3194" y="1920240"/>
            <a:ext cx="4461033" cy="28327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21356" y="5527119"/>
            <a:ext cx="10111026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Japan</a:t>
            </a: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r>
              <a:rPr lang="en-US" sz="16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Egypt</a:t>
            </a: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and </a:t>
            </a:r>
            <a:r>
              <a:rPr lang="en-US" sz="16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Australia</a:t>
            </a: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are the </a:t>
            </a:r>
            <a:r>
              <a:rPr lang="en-US" sz="16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top-performing countries</a:t>
            </a: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in both </a:t>
            </a:r>
            <a:r>
              <a:rPr lang="en-US" sz="16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total revenue</a:t>
            </a: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</a:t>
            </a:r>
            <a:r>
              <a:rPr lang="en-US" sz="16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quantity sold</a:t>
            </a: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1321356" y="5945386"/>
            <a:ext cx="10111026" cy="68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UAE</a:t>
            </a: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</a:t>
            </a:r>
            <a:r>
              <a:rPr lang="en-US" sz="16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India</a:t>
            </a: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consistently rank at the bottom, indicating </a:t>
            </a:r>
            <a:r>
              <a:rPr lang="en-US" sz="16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lower customer engagement or market penetration</a:t>
            </a: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1321356" y="6631900"/>
            <a:ext cx="10111026" cy="68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alignment between </a:t>
            </a:r>
            <a:r>
              <a:rPr lang="en-US" sz="16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 quantity and revenue</a:t>
            </a: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in Japan and Australia suggests both </a:t>
            </a:r>
            <a:r>
              <a:rPr lang="en-US" sz="16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strong order volume and high-value purchases</a:t>
            </a: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1963400" y="5645110"/>
            <a:ext cx="1353264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1963400" y="6181368"/>
            <a:ext cx="1353264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1356" y="602218"/>
            <a:ext cx="8240316" cy="606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Average Order Gap &amp; Orders by Country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356" y="1782008"/>
            <a:ext cx="4734163" cy="284378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782008"/>
            <a:ext cx="4734163" cy="28437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089940" y="5057061"/>
            <a:ext cx="5226606" cy="349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321356" y="5138783"/>
            <a:ext cx="10109597" cy="349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UAE</a:t>
            </a:r>
            <a:r>
              <a:rPr lang="en-US" sz="17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has the </a:t>
            </a:r>
            <a:r>
              <a:rPr lang="en-US" sz="17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longest gap between orders</a:t>
            </a:r>
            <a:r>
              <a:rPr lang="en-US" sz="17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meaning customers take longer to buy again.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321356" y="5526383"/>
            <a:ext cx="10109597" cy="349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Brazil and Germany</a:t>
            </a:r>
            <a:r>
              <a:rPr lang="en-US" sz="17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have </a:t>
            </a:r>
            <a:r>
              <a:rPr lang="en-US" sz="17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shorter gaps</a:t>
            </a:r>
            <a:r>
              <a:rPr lang="en-US" sz="17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showing customers order more often.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321356" y="6014729"/>
            <a:ext cx="10109597" cy="349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Japan and Australia</a:t>
            </a:r>
            <a:r>
              <a:rPr lang="en-US" sz="17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have the </a:t>
            </a:r>
            <a:r>
              <a:rPr lang="en-US" sz="17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most orders overall</a:t>
            </a:r>
            <a:r>
              <a:rPr lang="en-US" sz="17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showing they are very active regions.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321356" y="6484732"/>
            <a:ext cx="10109597" cy="349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India and UAE</a:t>
            </a:r>
            <a:r>
              <a:rPr lang="en-US" sz="17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have fewer total orders and less frequent buying.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1971258" y="6044922"/>
            <a:ext cx="1345287" cy="349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1356" y="662345"/>
            <a:ext cx="5651063" cy="669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Return Rate by Category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362" y="1963579"/>
            <a:ext cx="5562643" cy="288812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963579"/>
            <a:ext cx="5271247" cy="28881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42396" y="4968835"/>
            <a:ext cx="5574149" cy="385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321355" y="5447477"/>
            <a:ext cx="11987689" cy="385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Focus on improving product descriptions and sizing guidance for high-return items.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1328856" y="5886801"/>
            <a:ext cx="11987689" cy="385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Investigate return reasons in South Africa, USA, and top-return categories.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321356" y="6419481"/>
            <a:ext cx="11987689" cy="385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 low-return countries and categories as </a:t>
            </a:r>
            <a:r>
              <a:rPr lang="en-US" sz="18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benchmarks</a:t>
            </a:r>
            <a:r>
              <a:rPr lang="en-US" sz="18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for quality and customer satisfaction.</a:t>
            </a:r>
            <a:endParaRPr lang="en-US" sz="1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357" y="1106329"/>
            <a:ext cx="5638842" cy="319635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5627" y="1106328"/>
            <a:ext cx="5065822" cy="319635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75627" y="3502581"/>
            <a:ext cx="544091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5" name="Text 1"/>
          <p:cNvSpPr/>
          <p:nvPr/>
        </p:nvSpPr>
        <p:spPr>
          <a:xfrm>
            <a:off x="1321356" y="4857988"/>
            <a:ext cx="11987689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Electronics is a high-performing category</a:t>
            </a: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in both quantity and revenue — it drives the most sales volume and value.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1321356" y="5734407"/>
            <a:ext cx="11987689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Clothing shows the lowest performance</a:t>
            </a: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across both metrics — worth reviewing for product positioning, pricing, or promotions.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1321356" y="6610826"/>
            <a:ext cx="11987689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Focus on </a:t>
            </a:r>
            <a:r>
              <a:rPr lang="en-US" sz="19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boosting revenue in lower-performing but mid-volume categories</a:t>
            </a: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like </a:t>
            </a:r>
            <a:r>
              <a:rPr lang="en-US" sz="19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Accessories and Beauty</a:t>
            </a: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by exploring upselling or bundling strategies.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995005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Insights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864037" y="2328743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46" y="2400657"/>
            <a:ext cx="329089" cy="411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66280" y="2328743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Most customers buy again</a:t>
            </a: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→ Offer loyalty rewal</a:t>
            </a:r>
            <a:endParaRPr lang="en-US" sz="1900" dirty="0"/>
          </a:p>
        </p:txBody>
      </p:sp>
      <p:sp>
        <p:nvSpPr>
          <p:cNvPr id="7" name="Shape 3"/>
          <p:cNvSpPr/>
          <p:nvPr/>
        </p:nvSpPr>
        <p:spPr>
          <a:xfrm>
            <a:off x="864037" y="3686294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146" y="3758208"/>
            <a:ext cx="329089" cy="411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66280" y="3686294"/>
            <a:ext cx="661368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Sales are higher in certain months</a:t>
            </a: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→ Run ads or discounts during those times</a:t>
            </a:r>
            <a:endParaRPr lang="en-US" sz="1900" dirty="0"/>
          </a:p>
        </p:txBody>
      </p:sp>
      <p:sp>
        <p:nvSpPr>
          <p:cNvPr id="10" name="Shape 5"/>
          <p:cNvSpPr/>
          <p:nvPr/>
        </p:nvSpPr>
        <p:spPr>
          <a:xfrm>
            <a:off x="864037" y="5043845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146" y="5115758"/>
            <a:ext cx="329089" cy="4114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66280" y="5043845"/>
            <a:ext cx="661368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Too many returns in Home &amp; Footwear</a:t>
            </a: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→ Check quality or improve product info</a:t>
            </a:r>
            <a:endParaRPr lang="en-US" sz="1900" dirty="0"/>
          </a:p>
        </p:txBody>
      </p:sp>
      <p:sp>
        <p:nvSpPr>
          <p:cNvPr id="13" name="Shape 7"/>
          <p:cNvSpPr/>
          <p:nvPr/>
        </p:nvSpPr>
        <p:spPr>
          <a:xfrm>
            <a:off x="864037" y="6401395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146" y="6473309"/>
            <a:ext cx="329089" cy="4114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666280" y="6401395"/>
            <a:ext cx="661368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Some regions buy more than others</a:t>
            </a: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→ Focus marketing on those areas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449</Words>
  <Application>Microsoft Office PowerPoint</Application>
  <PresentationFormat>Custom</PresentationFormat>
  <Paragraphs>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Barlow</vt:lpstr>
      <vt:lpstr>Barlow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ontela abhinavreddy</cp:lastModifiedBy>
  <cp:revision>3</cp:revision>
  <dcterms:created xsi:type="dcterms:W3CDTF">2025-04-25T17:24:51Z</dcterms:created>
  <dcterms:modified xsi:type="dcterms:W3CDTF">2025-04-25T18:13:48Z</dcterms:modified>
</cp:coreProperties>
</file>